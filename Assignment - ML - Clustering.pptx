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296581-2DA9-45E3-2C42-A029E03A67FA}" v="148" dt="2026-05-31T10:11:39.8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A0979-F579-4E9B-A675-1F5ABBFF00DB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95348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7156E-175E-4DBA-9D21-B772C320F342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5042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95F6E-3D02-4292-95D1-C62B3126321B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561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B5ACB-D10C-44A8-9570-124370F4CB38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84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4F4-0E7A-4BDE-98C6-AE68FB974645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015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FF1D8-9801-4C4B-92F3-66C9A863BD74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997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FE8FD-B23E-4E1A-83EF-0847EBEA0105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811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891E-A7C2-465C-AD39-8EDCB0F58E3C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0871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F93E5-AFB6-485C-8E3C-32F92A07875F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7805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76D0F-5A12-4D0A-80B0-1A6122B61E7B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1834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E8C84-89CA-44AB-B0BE-5C91BAF75478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9264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3A332BE1-279E-4118-9FE3-7952B079A510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7288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Machine Learning – Clustering Algorithms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Understanding Unsupervised Learning Algorithms for Grouping Similar Data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21AE7-0A68-B564-DB6D-37BD73BC7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1. K-Means Clustering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67105-CB9A-93C0-9272-8006BEBA1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Definition: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>
                <a:ea typeface="+mn-lt"/>
                <a:cs typeface="+mn-lt"/>
              </a:rPr>
              <a:t> K-Means groups data into K predefined clusters</a:t>
            </a:r>
            <a:r>
              <a:rPr lang="en-US">
                <a:ea typeface="+mn-lt"/>
                <a:cs typeface="+mn-lt"/>
              </a:rPr>
              <a:t> by assigning each data point to the nearest cluster center (centroid).</a:t>
            </a:r>
            <a:endParaRPr lang="en-US"/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Diagram:</a:t>
            </a: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Cluster 1      Cluster 2      Cluster 3</a:t>
            </a:r>
            <a:endParaRPr lang="en-US" dirty="0"/>
          </a:p>
          <a:p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● ● ●           ▲ ▲ ▲          ■ ■ ■</a:t>
            </a: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● X ●           ▲ X ▲          ■ X ■</a:t>
            </a: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● ● ●           ▲ ▲ ▲          ■ ■ ■</a:t>
            </a:r>
            <a:endParaRPr lang="en-US"/>
          </a:p>
          <a:p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X = Centroid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6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EE1EF-C833-9C99-457B-947559C81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2. Affinity Propagation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D35255-024B-7B01-B187-35D53BC5A6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Definition: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 </a:t>
            </a:r>
            <a:r>
              <a:rPr lang="en-US">
                <a:ea typeface="+mn-lt"/>
                <a:cs typeface="+mn-lt"/>
              </a:rPr>
              <a:t>Affinity Propagation automatically finds cluster centers (exemplars) by exchanging messages between data points. No need to specify the number of clusters.</a:t>
            </a:r>
            <a:endParaRPr lang="en-US"/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Diagram: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● → ★ ← ●</a:t>
            </a:r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\  |  /</a:t>
            </a:r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  \ | /</a:t>
            </a:r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   ●</a:t>
            </a:r>
          </a:p>
          <a:p>
            <a:pPr>
              <a:buNone/>
            </a:pP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★ = Exemplar (Cluster Center)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5259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048E7-49C1-0654-E390-C19ABC0C7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3. Mean Shift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1FE86-2467-31E7-3920-071977EBBF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Definition: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 </a:t>
            </a:r>
            <a:r>
              <a:rPr lang="en-US">
                <a:ea typeface="+mn-lt"/>
                <a:cs typeface="+mn-lt"/>
              </a:rPr>
              <a:t>Mean Shift finds clusters by moving data points toward the area with the highest data density until convergence.</a:t>
            </a:r>
            <a:endParaRPr lang="en-US"/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Diagram:</a:t>
            </a:r>
            <a:endParaRPr lang="en-US" b="1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Points ---&gt; Dense Area</a:t>
            </a:r>
            <a:endParaRPr lang="en-US"/>
          </a:p>
          <a:p>
            <a:pPr>
              <a:buNone/>
            </a:pP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● ●     ●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  ● → ● ● ● ← ●</a:t>
            </a: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      ● ●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450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3D99F-3321-A9DE-ED0F-F208A841C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4. Spectral Clustering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5E7F6-CFB6-9C05-16D4-98EBB53589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Definition:</a:t>
            </a:r>
            <a:br>
              <a:rPr lang="en-US" b="1" dirty="0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Spectral Clustering uses graph theory and eigenvalues to separate complex-shaped clusters that K-Means may miss.</a:t>
            </a:r>
            <a:endParaRPr lang="en-US"/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Diagram: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(● ● ●)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   \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    \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(▲ ▲ ▲)</a:t>
            </a:r>
            <a:endParaRPr lang="en-US"/>
          </a:p>
          <a:p>
            <a:pPr>
              <a:buNone/>
            </a:pP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Graph-based separation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646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D5E0F-CAB1-6E2A-79F8-4F475450E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5. Hierarchical Clustering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486FF-061D-42A2-C251-4C4A6BCBF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Definition: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 </a:t>
            </a:r>
            <a:r>
              <a:rPr lang="en-US">
                <a:ea typeface="+mn-lt"/>
                <a:cs typeface="+mn-lt"/>
              </a:rPr>
              <a:t>Hierarchical Clustering creates a tree-like structure (Dendrogram) by repeatedly merging or splitting clusters.</a:t>
            </a:r>
            <a:endParaRPr lang="en-US"/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Diagram: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      ─────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     /     \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   ──       ──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  / \       / \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A  B      C  D</a:t>
            </a:r>
            <a:endParaRPr lang="en-US"/>
          </a:p>
          <a:p>
            <a:pPr>
              <a:buNone/>
            </a:pP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Dendrogram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26558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B5EED-0B8E-2CE3-C3AC-847BF45A7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6. DBSCAN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B5F82-4454-7900-D9A0-76903CA90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Definition: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 </a:t>
            </a:r>
            <a:r>
              <a:rPr lang="en-US" dirty="0">
                <a:ea typeface="+mn-lt"/>
                <a:cs typeface="+mn-lt"/>
              </a:rPr>
              <a:t>DBSCAN groups closely packed points and identifies isolated points as noise/outliers.</a:t>
            </a:r>
            <a:endParaRPr lang="en-US" dirty="0"/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Diagram: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● ● ● ●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● ● ● ●</a:t>
            </a:r>
            <a:endParaRPr lang="en-US"/>
          </a:p>
          <a:p>
            <a:pPr>
              <a:buNone/>
            </a:pP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          ▲</a:t>
            </a:r>
            <a:endParaRPr lang="en-US"/>
          </a:p>
          <a:p>
            <a:pPr>
              <a:buNone/>
            </a:pP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Noise Point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16814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5AF40-A0E5-2B67-F72F-05DFD7F3D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7. HDBSCAN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1E941-BCA9-5956-553F-83874A5CE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Definition: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 </a:t>
            </a:r>
            <a:r>
              <a:rPr lang="en-US">
                <a:ea typeface="+mn-lt"/>
                <a:cs typeface="+mn-lt"/>
              </a:rPr>
              <a:t>HDBSCAN is an improved version of DBSCAN that can find clusters with different densities automatically.</a:t>
            </a:r>
            <a:endParaRPr lang="en-US"/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Diagram: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Dense Cluster      Sparse Cluster</a:t>
            </a:r>
            <a:endParaRPr lang="en-US"/>
          </a:p>
          <a:p>
            <a:pPr>
              <a:buNone/>
            </a:pP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●●●●●●            ▲ ▲ ▲</a:t>
            </a: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●●●●●             ▲ ▲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9569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08C47-B8C3-43E1-BAF3-6D4385CF6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8. OPTICS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D2337-F945-88D5-B37D-6E121F0756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Definition:</a:t>
            </a:r>
            <a:br>
              <a:rPr lang="en-US" b="1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OPTICS identifies clusters with varying densities and creates an ordering of points to reveal cluster structure.</a:t>
            </a:r>
            <a:endParaRPr lang="en-US" dirty="0"/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Diagram: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●●●●●</a:t>
            </a:r>
            <a:endParaRPr lang="en-US"/>
          </a:p>
          <a:p>
            <a:pPr>
              <a:buNone/>
            </a:pP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      ▲ ▲ ▲</a:t>
            </a:r>
            <a:endParaRPr lang="en-US"/>
          </a:p>
          <a:p>
            <a:pPr>
              <a:buNone/>
            </a:pP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            ■ ■</a:t>
            </a:r>
            <a:endParaRPr lang="en-US"/>
          </a:p>
          <a:p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16462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A61F1-D7FE-BB7C-0E2A-38D36E1AA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9. BIRCH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9B268-961D-F11E-8DDD-5A680E78B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Definition:</a:t>
            </a:r>
            <a:br>
              <a:rPr lang="en-US" b="1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BIRCH (Balanced Iterative Reducing and Clustering using Hierarchies) efficiently clusters very large datasets using a tree structure.</a:t>
            </a:r>
            <a:endParaRPr lang="en-US" dirty="0"/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Diagram: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           Root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          /    \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      Node1   Node2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      /  \     /  \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    C1  C2   C3  C4</a:t>
            </a:r>
            <a:endParaRPr lang="en-US"/>
          </a:p>
          <a:p>
            <a:pPr>
              <a:buNone/>
            </a:pP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CF Tree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14001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0921E-3032-31B5-B1C6-5389846AE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Overall Takeaway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D1FA3-9BBD-F0E9-07F4-142643768E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 1. </a:t>
            </a:r>
            <a:r>
              <a:rPr lang="en-US" b="1" dirty="0">
                <a:ea typeface="+mn-lt"/>
                <a:cs typeface="+mn-lt"/>
              </a:rPr>
              <a:t>K-Means</a:t>
            </a:r>
            <a:r>
              <a:rPr lang="en-US" dirty="0">
                <a:ea typeface="+mn-lt"/>
                <a:cs typeface="+mn-lt"/>
              </a:rPr>
              <a:t> → Fast and simple for well-defined clusters.</a:t>
            </a:r>
            <a:br>
              <a:rPr lang="en-US" dirty="0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 2. </a:t>
            </a:r>
            <a:r>
              <a:rPr lang="en-US" b="1" dirty="0">
                <a:ea typeface="+mn-lt"/>
                <a:cs typeface="+mn-lt"/>
              </a:rPr>
              <a:t>Affinity Propagation &amp; Mean Shift</a:t>
            </a:r>
            <a:r>
              <a:rPr lang="en-US" dirty="0">
                <a:ea typeface="+mn-lt"/>
                <a:cs typeface="+mn-lt"/>
              </a:rPr>
              <a:t> → No need to specify cluster count.</a:t>
            </a:r>
            <a:br>
              <a:rPr lang="en-US" dirty="0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3. </a:t>
            </a:r>
            <a:r>
              <a:rPr lang="en-US" b="1" dirty="0">
                <a:ea typeface="+mn-lt"/>
                <a:cs typeface="+mn-lt"/>
              </a:rPr>
              <a:t>Spectral &amp; Hierarchical</a:t>
            </a:r>
            <a:r>
              <a:rPr lang="en-US" dirty="0">
                <a:ea typeface="+mn-lt"/>
                <a:cs typeface="+mn-lt"/>
              </a:rPr>
              <a:t> → Good for complex relationships and visualization.</a:t>
            </a:r>
            <a:br>
              <a:rPr lang="en-US" dirty="0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4. </a:t>
            </a:r>
            <a:r>
              <a:rPr lang="en-US" b="1">
                <a:ea typeface="+mn-lt"/>
                <a:cs typeface="+mn-lt"/>
              </a:rPr>
              <a:t>DBSCAN, HDBSCAN &amp; OPTICS</a:t>
            </a:r>
            <a:r>
              <a:rPr lang="en-US" dirty="0">
                <a:ea typeface="+mn-lt"/>
                <a:cs typeface="+mn-lt"/>
              </a:rPr>
              <a:t> → Excellent for density-based clustering and outlier detection.</a:t>
            </a:r>
            <a:br>
              <a:rPr lang="en-US" dirty="0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 5. </a:t>
            </a:r>
            <a:r>
              <a:rPr lang="en-US" b="1" dirty="0">
                <a:ea typeface="+mn-lt"/>
                <a:cs typeface="+mn-lt"/>
              </a:rPr>
              <a:t>BIRCH</a:t>
            </a:r>
            <a:r>
              <a:rPr lang="en-US" dirty="0">
                <a:ea typeface="+mn-lt"/>
                <a:cs typeface="+mn-lt"/>
              </a:rPr>
              <a:t> → Best suited for large-scale datasets with limited resources.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8868275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VTI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VanillaVTI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Vanilla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AACC6CF0-9F86-48CC-9C4E-CA578EE0A0A0}" vid="{3BDE51FE-56D6-4100-AFB5-5B4AEDCE2EF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VanillaVTI</vt:lpstr>
      <vt:lpstr>Machine Learning – Clustering Algorithms</vt:lpstr>
      <vt:lpstr>1. K-Means Clustering</vt:lpstr>
      <vt:lpstr>2. Affinity Propagation</vt:lpstr>
      <vt:lpstr>3. Mean Shift</vt:lpstr>
      <vt:lpstr>4. Spectral Clustering</vt:lpstr>
      <vt:lpstr>5. Hierarchical Clustering </vt:lpstr>
      <vt:lpstr>6. DBSCAN </vt:lpstr>
      <vt:lpstr>7. HDBSCAN </vt:lpstr>
      <vt:lpstr>8. OPTICS </vt:lpstr>
      <vt:lpstr>9. BIRCH </vt:lpstr>
      <vt:lpstr>Overall Takeaway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101</cp:revision>
  <dcterms:created xsi:type="dcterms:W3CDTF">2026-05-31T09:48:10Z</dcterms:created>
  <dcterms:modified xsi:type="dcterms:W3CDTF">2026-05-31T10:12:24Z</dcterms:modified>
</cp:coreProperties>
</file>